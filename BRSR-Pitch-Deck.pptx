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635" y="1638300"/>
            <a:ext cx="68665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BRSR Carbon Calculator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66881" y="2362200"/>
            <a:ext cx="521008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Carbon Reporting for Indian Companies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10505" y="3291780"/>
            <a:ext cx="25228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SEBI BRSR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81000" y="1436489"/>
            <a:ext cx="8382000" cy="971550"/>
          </a:xfrm>
          <a:prstGeom prst="roundRect">
            <a:avLst>
              <a:gd name="adj" fmla="val 98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436489"/>
            <a:ext cx="0" cy="971550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588889"/>
            <a:ext cx="40999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SEBI Mandate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81025" y="1855589"/>
            <a:ext cx="819016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1000 listed companies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must disclose carbon footprint via BRSR. Plus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MSMEs supplying to large firms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(Tata, Reliance, etc.) and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MSMEs exporting internationally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must also report.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541389"/>
            <a:ext cx="8382000" cy="917972"/>
          </a:xfrm>
          <a:prstGeom prst="roundRect">
            <a:avLst>
              <a:gd name="adj" fmla="val 10376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813" y="2541389"/>
            <a:ext cx="0" cy="91797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025" y="2693789"/>
            <a:ext cx="40999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Issues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1025" y="2960489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Weeks of manual work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81025" y="3133725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₹50K - ₹5L in consulting fees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643438" y="2960489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Accuracy: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risk of manual errors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3438" y="3133725"/>
            <a:ext cx="40465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Compliance: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Audit failures costly</a:t>
            </a:r>
            <a:endParaRPr lang="en-US" sz="975" dirty="0"/>
          </a:p>
        </p:txBody>
      </p:sp>
      <p:pic>
        <p:nvPicPr>
          <p:cNvPr id="14" name="Image 0" descr="/tmp/rasterized-gradient-40598c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592711"/>
            <a:ext cx="8382000" cy="609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72059" y="3764161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50M+ Companies Face This Challenge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300" dirty="0"/>
          </a:p>
        </p:txBody>
      </p:sp>
      <p:pic>
        <p:nvPicPr>
          <p:cNvPr id="3" name="Image 0" descr="/tmp/rasterized-gradient-de4f32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17724"/>
            <a:ext cx="8382000" cy="1051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490" y="1508224"/>
            <a:ext cx="8161020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complex GHG calculations into simple, one-click, audit-ready outputs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1000" y="2483346"/>
            <a:ext cx="2717750" cy="948333"/>
          </a:xfrm>
          <a:prstGeom prst="roundRect">
            <a:avLst>
              <a:gd name="adj" fmla="val 10044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2502396"/>
            <a:ext cx="27177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2673846"/>
            <a:ext cx="24612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3400" y="2932807"/>
            <a:ext cx="246120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scopes calculated instantly with verified emission factors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213050" y="2483346"/>
            <a:ext cx="2717750" cy="948333"/>
          </a:xfrm>
          <a:prstGeom prst="roundRect">
            <a:avLst>
              <a:gd name="adj" fmla="val 1004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213050" y="2502396"/>
            <a:ext cx="27177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65450" y="2673846"/>
            <a:ext cx="24612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65450" y="2932807"/>
            <a:ext cx="246120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minutes instead of weeks. 90% time savings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6045101" y="2483346"/>
            <a:ext cx="2717750" cy="948333"/>
          </a:xfrm>
          <a:prstGeom prst="roundRect">
            <a:avLst>
              <a:gd name="adj" fmla="val 1004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045101" y="2502396"/>
            <a:ext cx="27177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7501" y="2673846"/>
            <a:ext cx="24612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Affordable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97501" y="2932807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cost reduction vs hiring consultants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381000" y="3545979"/>
            <a:ext cx="2717750" cy="775097"/>
          </a:xfrm>
          <a:prstGeom prst="roundRect">
            <a:avLst>
              <a:gd name="adj" fmla="val 12289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81000" y="3565029"/>
            <a:ext cx="271775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400" y="3736479"/>
            <a:ext cx="24612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Compliant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3400" y="3995440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SEBI BRSR compliant reports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3213050" y="3545979"/>
            <a:ext cx="2717750" cy="775097"/>
          </a:xfrm>
          <a:prstGeom prst="roundRect">
            <a:avLst>
              <a:gd name="adj" fmla="val 1228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213050" y="3565029"/>
            <a:ext cx="271775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65450" y="3736479"/>
            <a:ext cx="24612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Audit-Ready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65450" y="3995440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calculations, complete audit trail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6045101" y="3545979"/>
            <a:ext cx="2717750" cy="775097"/>
          </a:xfrm>
          <a:prstGeom prst="roundRect">
            <a:avLst>
              <a:gd name="adj" fmla="val 12289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6045101" y="3565029"/>
            <a:ext cx="271775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7501" y="3736479"/>
            <a:ext cx="246120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Scalable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197501" y="3995440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MSMEs to large corporations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6043041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3 Simple Steps</a:t>
            </a:r>
            <a:endParaRPr lang="en-US" sz="3300" dirty="0"/>
          </a:p>
        </p:txBody>
      </p:sp>
      <p:pic>
        <p:nvPicPr>
          <p:cNvPr id="3" name="Image 0" descr="/tmp/rasterized-gradient-1c957c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28700"/>
            <a:ext cx="2692450" cy="3543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125" y="12192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56642" y="12763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9125" y="1695450"/>
            <a:ext cx="116586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9125" y="2002334"/>
            <a:ext cx="23091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fuel, electricity, and travel data from your bills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9125" y="3505200"/>
            <a:ext cx="2263825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Diesel/Petrol (liters)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(kWh)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(km)</a:t>
            </a:r>
            <a:endParaRPr lang="en-US" sz="1350" dirty="0"/>
          </a:p>
        </p:txBody>
      </p:sp>
      <p:pic>
        <p:nvPicPr>
          <p:cNvPr id="9" name="Image 1" descr="/tmp/rasterized-gradient-ecaa30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850" y="1028700"/>
            <a:ext cx="2692450" cy="3543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63975" y="12192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601492" y="12763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63975" y="1695450"/>
            <a:ext cx="116586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63975" y="2002334"/>
            <a:ext cx="23091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uses verified emission factors to calculate total CO₂e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63975" y="4221510"/>
            <a:ext cx="230910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× Factor = CO₂e</a:t>
            </a:r>
            <a:endParaRPr lang="en-US" sz="900" dirty="0"/>
          </a:p>
        </p:txBody>
      </p:sp>
      <p:pic>
        <p:nvPicPr>
          <p:cNvPr id="15" name="Image 2" descr="/tmp/rasterized-gradient-5e3bcf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99" y="1028700"/>
            <a:ext cx="2692450" cy="35433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8824" y="12192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446341" y="127635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8824" y="1695450"/>
            <a:ext cx="116586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5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Report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08824" y="2002334"/>
            <a:ext cx="230910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SEBI BRSR-compliant PDF and Excel reports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308824" y="3810000"/>
            <a:ext cx="2263825" cy="571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to SEBI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5576697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Scopes of Emissions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81000" y="780752"/>
            <a:ext cx="4124325" cy="1270248"/>
          </a:xfrm>
          <a:prstGeom prst="roundRect">
            <a:avLst>
              <a:gd name="adj" fmla="val 7499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780752"/>
            <a:ext cx="0" cy="1270248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1975" y="914102"/>
            <a:ext cx="195281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1: Direct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1975" y="1140470"/>
            <a:ext cx="38862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Emissions from sources you own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1975" y="1346150"/>
            <a:ext cx="3810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vehicles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combustion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2146250"/>
            <a:ext cx="4124325" cy="1270248"/>
          </a:xfrm>
          <a:prstGeom prst="roundRect">
            <a:avLst>
              <a:gd name="adj" fmla="val 7499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2146250"/>
            <a:ext cx="0" cy="1270248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1975" y="2279600"/>
            <a:ext cx="195281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2: Electricity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1975" y="2505968"/>
            <a:ext cx="38862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Purchased energy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1975" y="2711648"/>
            <a:ext cx="3810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electricity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facilities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3511748"/>
            <a:ext cx="4124325" cy="1270248"/>
          </a:xfrm>
          <a:prstGeom prst="roundRect">
            <a:avLst>
              <a:gd name="adj" fmla="val 749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4813" y="3511748"/>
            <a:ext cx="0" cy="1270248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1975" y="3645098"/>
            <a:ext cx="1952816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3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3: Indirect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1975" y="3871466"/>
            <a:ext cx="388620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 emissions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1975" y="4077146"/>
            <a:ext cx="38100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travel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350" dirty="0"/>
          </a:p>
        </p:txBody>
      </p:sp>
      <p:pic>
        <p:nvPicPr>
          <p:cNvPr id="18" name="Image 0" descr="/tmp/rasterized-gradient-ca434b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8675" y="1204168"/>
            <a:ext cx="4124325" cy="143991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63490" y="1375618"/>
            <a:ext cx="874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5828109" y="1642318"/>
            <a:ext cx="1745307" cy="830312"/>
          </a:xfrm>
          <a:prstGeom prst="roundRect">
            <a:avLst>
              <a:gd name="adj" fmla="val 917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907811" y="1737568"/>
            <a:ext cx="15859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Data ×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07811" y="1950839"/>
            <a:ext cx="15859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Emission Factor =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07811" y="2164110"/>
            <a:ext cx="15859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CO₂e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638675" y="2758380"/>
            <a:ext cx="4124325" cy="1058912"/>
          </a:xfrm>
          <a:prstGeom prst="roundRect">
            <a:avLst>
              <a:gd name="adj" fmla="val 8995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638675" y="2772668"/>
            <a:ext cx="4124325" cy="0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72025" y="2920305"/>
            <a:ext cx="39347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Intensity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4772025" y="3167955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₹ Crore Revenue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72025" y="335265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Employee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772025" y="3537347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Unit Produced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638675" y="3931593"/>
            <a:ext cx="4124325" cy="426690"/>
          </a:xfrm>
          <a:prstGeom prst="roundRect">
            <a:avLst>
              <a:gd name="adj" fmla="val 22323"/>
            </a:avLst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33449" y="4064943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India-Specific Factors from SEBI Guidelines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300" dirty="0"/>
          </a:p>
        </p:txBody>
      </p:sp>
      <p:pic>
        <p:nvPicPr>
          <p:cNvPr id="3" name="Image 0" descr="/tmp/rasterized-gradient-c99870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64270"/>
            <a:ext cx="8382000" cy="1032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490" y="1254770"/>
            <a:ext cx="816102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₹500+ Crore Market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1490" y="1719560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fees we're replacing with software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1000" y="2230041"/>
            <a:ext cx="2705100" cy="1321743"/>
          </a:xfrm>
          <a:prstGeom prst="roundRect">
            <a:avLst>
              <a:gd name="adj" fmla="val 72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4813" y="2230041"/>
            <a:ext cx="0" cy="1321743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075" y="2401491"/>
            <a:ext cx="2001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Listed Companies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0075" y="2668191"/>
            <a:ext cx="23608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mandatory reporting requirement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600075" y="3167063"/>
            <a:ext cx="23608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Compliance Required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19450" y="2230041"/>
            <a:ext cx="2705100" cy="1321743"/>
          </a:xfrm>
          <a:prstGeom prst="roundRect">
            <a:avLst>
              <a:gd name="adj" fmla="val 720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43263" y="2230041"/>
            <a:ext cx="0" cy="1321743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38525" y="2401491"/>
            <a:ext cx="1535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MSMEs: Suppliers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38525" y="2668191"/>
            <a:ext cx="236086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supplying to Tata, Reliance, large corporations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3438525" y="3167063"/>
            <a:ext cx="23608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Pressure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57900" y="2230041"/>
            <a:ext cx="2705100" cy="1321743"/>
          </a:xfrm>
          <a:prstGeom prst="roundRect">
            <a:avLst>
              <a:gd name="adj" fmla="val 720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081713" y="2230041"/>
            <a:ext cx="0" cy="1321743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6975" y="2401491"/>
            <a:ext cx="1554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MSMEs: Exporters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76975" y="2668191"/>
            <a:ext cx="2360867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exporting to international markets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6276975" y="3167063"/>
            <a:ext cx="23608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Compliance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81000" y="3685133"/>
            <a:ext cx="2705100" cy="889397"/>
          </a:xfrm>
          <a:prstGeom prst="roundRect">
            <a:avLst>
              <a:gd name="adj" fmla="val 1071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9397" y="3837533"/>
            <a:ext cx="24483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50M+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509397" y="4248894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MSMEs in India</a:t>
            </a:r>
            <a:endParaRPr lang="en-US" sz="975" dirty="0"/>
          </a:p>
        </p:txBody>
      </p:sp>
      <p:sp>
        <p:nvSpPr>
          <p:cNvPr id="24" name="Text 21"/>
          <p:cNvSpPr/>
          <p:nvPr/>
        </p:nvSpPr>
        <p:spPr>
          <a:xfrm>
            <a:off x="3219450" y="3685133"/>
            <a:ext cx="2705100" cy="889397"/>
          </a:xfrm>
          <a:prstGeom prst="roundRect">
            <a:avLst>
              <a:gd name="adj" fmla="val 1071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347847" y="3837533"/>
            <a:ext cx="24483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3347847" y="4248894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mandate expanding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6057900" y="3685133"/>
            <a:ext cx="2705100" cy="889397"/>
          </a:xfrm>
          <a:prstGeom prst="roundRect">
            <a:avLst>
              <a:gd name="adj" fmla="val 1071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86297" y="3837533"/>
            <a:ext cx="24483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</a:t>
            </a:r>
            <a:endParaRPr lang="en-US" sz="2100" dirty="0"/>
          </a:p>
        </p:txBody>
      </p:sp>
      <p:sp>
        <p:nvSpPr>
          <p:cNvPr id="29" name="Text 26"/>
          <p:cNvSpPr/>
          <p:nvPr/>
        </p:nvSpPr>
        <p:spPr>
          <a:xfrm>
            <a:off x="6186297" y="4248894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compliance need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81000" y="1144191"/>
            <a:ext cx="4133850" cy="948333"/>
          </a:xfrm>
          <a:prstGeom prst="roundRect">
            <a:avLst>
              <a:gd name="adj" fmla="val 10044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163241"/>
            <a:ext cx="4133850" cy="0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334691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Technical Feasibility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00" y="1593652"/>
            <a:ext cx="39056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Robust, cloud-native architecture. Verified, rule-based logic guarantees audit-grade accuracy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29150" y="1144191"/>
            <a:ext cx="4133850" cy="948333"/>
          </a:xfrm>
          <a:prstGeom prst="roundRect">
            <a:avLst>
              <a:gd name="adj" fmla="val 1004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29150" y="1163241"/>
            <a:ext cx="41338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1550" y="1334691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Economic Efficiency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81550" y="1593652"/>
            <a:ext cx="39056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cost reduction. Low-cost model viable for MSMEs, effective for large corporations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2206823"/>
            <a:ext cx="4133850" cy="948333"/>
          </a:xfrm>
          <a:prstGeom prst="roundRect">
            <a:avLst>
              <a:gd name="adj" fmla="val 1004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1000" y="2225873"/>
            <a:ext cx="41338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" y="2397323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Mandatory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2656284"/>
            <a:ext cx="390563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required BRSR reporting. Ensures rapid adoption across entire spectrum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629150" y="2293441"/>
            <a:ext cx="4133850" cy="775097"/>
          </a:xfrm>
          <a:prstGeom prst="roundRect">
            <a:avLst>
              <a:gd name="adj" fmla="val 1228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29150" y="2312491"/>
            <a:ext cx="413385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1550" y="2483941"/>
            <a:ext cx="39056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First-Mover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1550" y="2742902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automated solution in India. Building brand recognition early</a:t>
            </a:r>
            <a:endParaRPr lang="en-US" sz="975" dirty="0"/>
          </a:p>
        </p:txBody>
      </p:sp>
      <p:pic>
        <p:nvPicPr>
          <p:cNvPr id="19" name="Image 0" descr="/tmp/rasterized-gradient-6425db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269456"/>
            <a:ext cx="8382000" cy="122500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526887" y="3459956"/>
            <a:ext cx="4090226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67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52641" y="3785890"/>
            <a:ext cx="19236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52641" y="4143970"/>
            <a:ext cx="1923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weeks (consultants)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590991" y="3785890"/>
            <a:ext cx="19236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590991" y="4143970"/>
            <a:ext cx="1923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629341" y="3785890"/>
            <a:ext cx="19236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629341" y="4143970"/>
            <a:ext cx="1923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 compliant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67691" y="3785890"/>
            <a:ext cx="19236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667691" y="4143970"/>
            <a:ext cx="1923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errors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300" dirty="0"/>
          </a:p>
        </p:txBody>
      </p:sp>
      <p:pic>
        <p:nvPicPr>
          <p:cNvPr id="3" name="Image 0" descr="/tmp/rasterized-gradient-d38681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35521"/>
            <a:ext cx="8382000" cy="8990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490" y="1026021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Subscription Model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91490" y="1357461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consulting services with affordable software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1000" y="1867942"/>
            <a:ext cx="2705100" cy="2150566"/>
          </a:xfrm>
          <a:prstGeom prst="roundRect">
            <a:avLst>
              <a:gd name="adj" fmla="val 442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4813" y="1867942"/>
            <a:ext cx="0" cy="2150566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0075" y="2039392"/>
            <a:ext cx="11852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MSMEs Tier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0075" y="2325142"/>
            <a:ext cx="23608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₹X,XXX/year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0075" y="2702272"/>
            <a:ext cx="23608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features, annual reports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600075" y="2970758"/>
            <a:ext cx="231457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scopes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PDF/Excel reports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219450" y="1867942"/>
            <a:ext cx="2705100" cy="2150566"/>
          </a:xfrm>
          <a:prstGeom prst="roundRect">
            <a:avLst>
              <a:gd name="adj" fmla="val 4429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243263" y="1867942"/>
            <a:ext cx="0" cy="215056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38525" y="2039392"/>
            <a:ext cx="12338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38525" y="2325142"/>
            <a:ext cx="23608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₹XX,XXX/year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438525" y="2702272"/>
            <a:ext cx="23608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features, multi-location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3438525" y="2970758"/>
            <a:ext cx="231457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MSME features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tracking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057900" y="1867942"/>
            <a:ext cx="2705100" cy="2150566"/>
          </a:xfrm>
          <a:prstGeom prst="roundRect">
            <a:avLst>
              <a:gd name="adj" fmla="val 442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081713" y="1867942"/>
            <a:ext cx="0" cy="2150566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76975" y="2039392"/>
            <a:ext cx="1505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Add-ons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276975" y="2325142"/>
            <a:ext cx="23608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45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76975" y="2702272"/>
            <a:ext cx="23608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reduction insights, API access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6276975" y="2970758"/>
            <a:ext cx="2314575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integration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381000" y="4151858"/>
            <a:ext cx="4124325" cy="651421"/>
          </a:xfrm>
          <a:prstGeom prst="roundRect">
            <a:avLst>
              <a:gd name="adj" fmla="val 1462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5774" y="4285208"/>
            <a:ext cx="39347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75774" y="4509939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+ Premium Features + Integrations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38675" y="4151858"/>
            <a:ext cx="4124325" cy="651421"/>
          </a:xfrm>
          <a:prstGeom prst="roundRect">
            <a:avLst>
              <a:gd name="adj" fmla="val 14622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33449" y="4285208"/>
            <a:ext cx="39347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Strategy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33449" y="4509939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outreach + Partnerships + Industry associations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381000" y="1028998"/>
            <a:ext cx="8382000" cy="809476"/>
          </a:xfrm>
          <a:prstGeom prst="roundRect">
            <a:avLst>
              <a:gd name="adj" fmla="val 1176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028998"/>
            <a:ext cx="0" cy="809476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181398"/>
            <a:ext cx="686395" cy="236190"/>
          </a:xfrm>
          <a:prstGeom prst="roundRect">
            <a:avLst>
              <a:gd name="adj" fmla="val 8065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325" y="1219498"/>
            <a:ext cx="4669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81720" y="1204168"/>
            <a:ext cx="19242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Core Platform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1025" y="1512838"/>
            <a:ext cx="81901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1, 2, 3 calculations • SEBI BRSR-compliant reports • PDF/Excel export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1952774"/>
            <a:ext cx="8382000" cy="809476"/>
          </a:xfrm>
          <a:prstGeom prst="roundRect">
            <a:avLst>
              <a:gd name="adj" fmla="val 11767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1952774"/>
            <a:ext cx="0" cy="809476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025" y="2105174"/>
            <a:ext cx="1022598" cy="236190"/>
          </a:xfrm>
          <a:prstGeom prst="roundRect">
            <a:avLst>
              <a:gd name="adj" fmla="val 8065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5325" y="2143274"/>
            <a:ext cx="8098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17923" y="2127945"/>
            <a:ext cx="2381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Enhanced Features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1025" y="2436614"/>
            <a:ext cx="81901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tracking • Carbon reduction recommendations • Mobile app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2876550"/>
            <a:ext cx="8382000" cy="809476"/>
          </a:xfrm>
          <a:prstGeom prst="roundRect">
            <a:avLst>
              <a:gd name="adj" fmla="val 1176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4813" y="2876550"/>
            <a:ext cx="0" cy="809476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025" y="3028950"/>
            <a:ext cx="965299" cy="236190"/>
          </a:xfrm>
          <a:prstGeom prst="roundRect">
            <a:avLst>
              <a:gd name="adj" fmla="val 8065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5325" y="3067050"/>
            <a:ext cx="7514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Q2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60624" y="3051721"/>
            <a:ext cx="17688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Integrations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1025" y="3360390"/>
            <a:ext cx="81901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for third-party platforms • ERP integration (Tally, SAP) • Real-time data sync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81000" y="3800326"/>
            <a:ext cx="8382000" cy="809476"/>
          </a:xfrm>
          <a:prstGeom prst="roundRect">
            <a:avLst>
              <a:gd name="adj" fmla="val 11767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4813" y="3800326"/>
            <a:ext cx="0" cy="809476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1025" y="3952726"/>
            <a:ext cx="692200" cy="236190"/>
          </a:xfrm>
          <a:prstGeom prst="roundRect">
            <a:avLst>
              <a:gd name="adj" fmla="val 80655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5325" y="3990826"/>
            <a:ext cx="4728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7525" y="3975497"/>
            <a:ext cx="2124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AI &amp; Automation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81025" y="4284166"/>
            <a:ext cx="81901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insights • Automated offsetting • Sustainability score • Benchmarking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Why Now</a:t>
            </a:r>
            <a:endParaRPr lang="en-US" sz="3300" dirty="0"/>
          </a:p>
        </p:txBody>
      </p:sp>
      <p:pic>
        <p:nvPicPr>
          <p:cNvPr id="3" name="Image 0" descr="/tmp/rasterized-gradient-fb69bfb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67705"/>
            <a:ext cx="8382000" cy="700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490" y="1358205"/>
            <a:ext cx="81610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Timing: Market Tailwinds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1000" y="2002036"/>
            <a:ext cx="2705100" cy="1392882"/>
          </a:xfrm>
          <a:prstGeom prst="roundRect">
            <a:avLst>
              <a:gd name="adj" fmla="val 683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4813" y="2002036"/>
            <a:ext cx="0" cy="1392882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1025" y="2154436"/>
            <a:ext cx="2244281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7"/>
              </a:lnSpc>
              <a:buNone/>
            </a:pPr>
            <a:r>
              <a:rPr lang="en-US" sz="12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SEBI Mandate Expanding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581025" y="2410420"/>
            <a:ext cx="239972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top 500 to top 1000 companies. More MSMEs added quarterly.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81025" y="3082528"/>
            <a:ext cx="23997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compliance pressure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19450" y="2002036"/>
            <a:ext cx="2705100" cy="1392882"/>
          </a:xfrm>
          <a:prstGeom prst="roundRect">
            <a:avLst>
              <a:gd name="adj" fmla="val 683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43263" y="2002036"/>
            <a:ext cx="0" cy="1392882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9475" y="2154436"/>
            <a:ext cx="2011108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7"/>
              </a:lnSpc>
              <a:buNone/>
            </a:pPr>
            <a:r>
              <a:rPr lang="en-US" sz="12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ESG Focus Increasing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3419475" y="2410420"/>
            <a:ext cx="239972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demanding carbon disclosure. Green bonds require reporting.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3419475" y="3082528"/>
            <a:ext cx="23997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Market-driven demand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57900" y="2002036"/>
            <a:ext cx="2705100" cy="1392882"/>
          </a:xfrm>
          <a:prstGeom prst="roundRect">
            <a:avLst>
              <a:gd name="adj" fmla="val 6838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081713" y="2002036"/>
            <a:ext cx="0" cy="1392882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57925" y="2154436"/>
            <a:ext cx="2069402" cy="17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7"/>
              </a:lnSpc>
              <a:buNone/>
            </a:pPr>
            <a:r>
              <a:rPr lang="en-US" sz="1275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Supply Chain Pressure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6257925" y="2410420"/>
            <a:ext cx="2399728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firms requiring supplier carbon data. International buyers demanding transparency.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257925" y="3082528"/>
            <a:ext cx="23997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requirements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1000" y="3528268"/>
            <a:ext cx="2705100" cy="942826"/>
          </a:xfrm>
          <a:prstGeom prst="roundRect">
            <a:avLst>
              <a:gd name="adj" fmla="val 1010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09397" y="3680668"/>
            <a:ext cx="24483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09397" y="4145459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full year of mandatory reporting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3219450" y="3528268"/>
            <a:ext cx="2705100" cy="942826"/>
          </a:xfrm>
          <a:prstGeom prst="roundRect">
            <a:avLst>
              <a:gd name="adj" fmla="val 1010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47847" y="3680668"/>
            <a:ext cx="24483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3347847" y="4145459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scope expanding quarterly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057900" y="3528268"/>
            <a:ext cx="2705100" cy="942826"/>
          </a:xfrm>
          <a:prstGeom prst="roundRect">
            <a:avLst>
              <a:gd name="adj" fmla="val 10103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86297" y="3680668"/>
            <a:ext cx="24483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6186297" y="4145459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advantage window closing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191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300" dirty="0"/>
          </a:p>
        </p:txBody>
      </p:sp>
      <p:pic>
        <p:nvPicPr>
          <p:cNvPr id="3" name="Image 0" descr="/tmp/rasterized-gradient-8e749b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524173"/>
            <a:ext cx="6667500" cy="2327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2471" y="828973"/>
            <a:ext cx="61790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Seeking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82471" y="1221284"/>
            <a:ext cx="617905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₹X Crore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482471" y="2089845"/>
            <a:ext cx="6179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scale nationwide, capture the mandatory market,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become India's carbon compliance standard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8250" y="3042345"/>
            <a:ext cx="3257550" cy="933301"/>
          </a:xfrm>
          <a:prstGeom prst="roundRect">
            <a:avLst>
              <a:gd name="adj" fmla="val 10206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80554" y="3213795"/>
            <a:ext cx="297294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80554" y="3484215"/>
            <a:ext cx="29729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 • Sales team • Marketing • Partnerships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48200" y="3122265"/>
            <a:ext cx="3257550" cy="773311"/>
          </a:xfrm>
          <a:prstGeom prst="roundRect">
            <a:avLst>
              <a:gd name="adj" fmla="val 1231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90503" y="3293715"/>
            <a:ext cx="297294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Goals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90503" y="3564136"/>
            <a:ext cx="29729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customers • 50M ARR • API launch • Mobile app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38250" y="4166146"/>
            <a:ext cx="6667500" cy="948630"/>
          </a:xfrm>
          <a:prstGeom prst="roundRect">
            <a:avLst>
              <a:gd name="adj" fmla="val 12049"/>
            </a:avLst>
          </a:prstGeom>
          <a:solidFill>
            <a:srgbClr val="EEF2FF"/>
          </a:solidFill>
          <a:ln w="19050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385316" y="4375696"/>
            <a:ext cx="6373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Enabling Sustainable Business at Scale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85316" y="4718596"/>
            <a:ext cx="63733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support@brsrcalculator.com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BRSR Carbon Calculator - Pitch Deck</dc:title>
  <dc:subject>Automating Carbon Reporting for Indian Companies</dc:subject>
  <dc:creator>BRSR Calculator Team</dc:creator>
  <cp:lastModifiedBy>BRSR Calculator Team</cp:lastModifiedBy>
  <cp:revision>1</cp:revision>
  <dcterms:created xsi:type="dcterms:W3CDTF">2025-11-23T06:52:00Z</dcterms:created>
  <dcterms:modified xsi:type="dcterms:W3CDTF">2025-11-23T06:52:00Z</dcterms:modified>
</cp:coreProperties>
</file>